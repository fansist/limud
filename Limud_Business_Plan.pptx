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Proficient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8th Reading</c:v>
                </c:pt>
                <c:pt idx="1">
                  <c:v>8th Math</c:v>
                </c:pt>
                <c:pt idx="2">
                  <c:v>12th Reading</c:v>
                </c:pt>
                <c:pt idx="3">
                  <c:v>12th Math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26</c:v>
                </c:pt>
                <c:pt idx="2">
                  <c:v>35</c:v>
                </c:pt>
                <c:pt idx="3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students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Secondary students
on IEP (IDEA)</c:v>
                </c:pt>
                <c:pt idx="1">
                  <c:v>Diagnosed ADHD
(ages 12–17)</c:v>
                </c:pt>
                <c:pt idx="2">
                  <c:v>Below proficient
(NAEP 2024 math, 8th)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14.3</c:v>
                </c:pt>
                <c:pt idx="2">
                  <c:v>74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Districts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Y1 pilot</c:v>
                </c:pt>
                <c:pt idx="1">
                  <c:v>Y2 regional</c:v>
                </c:pt>
                <c:pt idx="2">
                  <c:v>Y3 national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50</c:v>
                </c:pt>
                <c:pt idx="2">
                  <c:v>500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Preply · Series D</c:v>
                </c:pt>
                <c:pt idx="1">
                  <c:v>Speak · Series C</c:v>
                </c:pt>
                <c:pt idx="2">
                  <c:v>MagicSchool · Series B (Bain)</c:v>
                </c:pt>
                <c:pt idx="3">
                  <c:v>Gizmo AI · Series A</c:v>
                </c:pt>
                <c:pt idx="4">
                  <c:v>Brisk Teaching · Series A (Bessemer)</c:v>
                </c:pt>
                <c:pt idx="5">
                  <c:v>Curipod · Seed</c:v>
                </c:pt>
                <c:pt idx="6">
                  <c:v>Limud · pre-seed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78</c:v>
                </c:pt>
                <c:pt idx="2">
                  <c:v>45</c:v>
                </c:pt>
                <c:pt idx="3">
                  <c:v>22</c:v>
                </c:pt>
                <c:pt idx="4">
                  <c:v>15</c:v>
                </c:pt>
                <c:pt idx="5">
                  <c:v>5</c:v>
                </c:pt>
                <c:pt idx="6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5394960" y="1463040"/>
            <a:ext cx="1371600" cy="1371600"/>
          </a:xfrm>
          <a:prstGeom prst="homePlate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03570" y="2011680"/>
            <a:ext cx="754380" cy="3429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400" b="1" i="0">
                <a:solidFill>
                  <a:srgbClr val="2C4A2E"/>
                </a:solidFill>
                <a:latin typeface="Arial Black"/>
              </a:rPr>
              <a:t>LIMUD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1">
                <a:solidFill>
                  <a:srgbClr val="556648"/>
                </a:solidFill>
                <a:latin typeface="Calibri"/>
              </a:rPr>
              <a:t>Every Mind Learns Differently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5504" y="4983480"/>
            <a:ext cx="1828800" cy="36576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556648"/>
                </a:solidFill>
                <a:latin typeface="Calibri"/>
              </a:rPr>
              <a:t>Business Plan  ·  Pre-launch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56648"/>
                </a:solidFill>
                <a:latin typeface="Calibri"/>
              </a:rPr>
              <a:t>Tamar B · Noam E · Lior B · Erez O · Eytan B · Noam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2C4A2E"/>
                </a:solidFill>
                <a:latin typeface="Arial Black"/>
              </a:rPr>
              <a:t>Business Plan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A structured story — problem to plan, every number sourced.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50876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08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Problem ·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745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NAEP 2024 + ADHD + IEP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2588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508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Problem · Workforce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8745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Burnout + grading hours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32588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150876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508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1508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Solution ·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745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Analyze → Adapt → Iterate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132588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0576" y="150876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508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1508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Solution ·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18745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4 RCTs and meta-analyses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33172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251460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2514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Market (TAM)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880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U.S. 6–12 + AI-in-Ed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233172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74720" y="251460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8" y="2514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Workflow: 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2880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How school works now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233172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27648" y="251460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0296" y="2514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Workflow: Limud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0296" y="2880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How we change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15984" y="233172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80576" y="251460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25146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3224" y="2514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Use Case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2880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One concrete student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33756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1792" y="352044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Pricing Tiers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4440" y="388620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$3 · $5 · $8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0128" y="333756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74720" y="352044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87368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Unit Econ + Growth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87368" y="388620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Per-district math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3056" y="333756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27648" y="352044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0296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Go-To-Market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0296" y="388620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Three channels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15984" y="333756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80576" y="352044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0576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3224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Pilot 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93224" y="388620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How we measure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34340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1792" y="452628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526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4440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Competition · Map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34440" y="48920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Nine vendors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10128" y="434340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474720" y="452628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0" y="4526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87368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Competition · $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87368" y="48920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Funding heat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63056" y="434340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327648" y="452628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27648" y="4526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0296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Where Limud Fits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0296" y="48920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Three differentiators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15984" y="434340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180576" y="452628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80576" y="4526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93224" y="45262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Competitor Voice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93224" y="489204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G2 + Reddit quotes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534924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21792" y="553212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792" y="5532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34440" y="5532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Adjacent Threats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34440" y="589788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Google · MS · PowerSchool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10128" y="534924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474720" y="553212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74720" y="5532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87368" y="5532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Strategic Plays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87368" y="589788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Build / Parity / Monitor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63056" y="5349240"/>
            <a:ext cx="274320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327648" y="5532120"/>
            <a:ext cx="502920" cy="50292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27648" y="5532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40296" y="5532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C4A2E"/>
                </a:solidFill>
                <a:latin typeface="Arial Black"/>
              </a:rPr>
              <a:t>Team &amp; Ask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40296" y="589788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6648"/>
                </a:solidFill>
                <a:latin typeface="Calibri"/>
              </a:rPr>
              <a:t>Builders + ask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Every stat in the following slides ties back to a public source. Assumptions are labeled as such.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Problem —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4A2E"/>
                </a:solidFill>
                <a:latin typeface="Arial Black"/>
              </a:rPr>
              <a:t>Secondary achievement keeps falling.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760720" cy="2743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U.S. public grades 6–12: ~27.1 M students, ~2.1 M secondary teachers (NCES 2023-24).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14.3% of U.S. teens ages 12–17 are diagnosed with ADHD — up from 13% (CDC NSCH 2022).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15% of public-school students receive IDEA special-education services (NCES 2024).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NAEP 2024: grade-12 math fell to 22% proficient — a historic low. Reading fell to 35%.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52% of K-12 workers report burnout 'always' or 'very often' (Gallup 2024) —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an 8-point jump since 2022, the largest of any U.S. industry tracked.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5760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NCES 2023-24 (enrollment + teacher counts) · CDC NSCH 2022 (ADHD 12-17) · NAEP 2024 (NAGB, released Jan 2025) · Gallup K-12 Workforce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NAEP 2024: % at/above Proficient (secondary)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691640"/>
          <a:ext cx="53949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470916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Source: NAEP 2024 (Nation's Report Card / NAGB / NCES, released Jan 2025). 12th-grade math 22% is a historic low; 8th-grade math flat at 26% since 2022.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247120" cy="118872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2C4A2E"/>
                </a:solidFill>
                <a:latin typeface="Arial Black"/>
              </a:rPr>
              <a:t>~3 in 4 eighth-graders aren't math-proficient.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556648"/>
                </a:solidFill>
                <a:latin typeface="Calibri"/>
              </a:rPr>
              <a:t>And 12th-grade math just hit a 30-year 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Problem — Workforce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Teachers are out of time and out of energy. Personalization isn't physically possible at 30:1.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657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2C4A2E"/>
                </a:solidFill>
                <a:latin typeface="Arial Black"/>
              </a:rPr>
              <a:t>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C4A2E"/>
                </a:solidFill>
                <a:latin typeface="Arial Black"/>
              </a:rPr>
              <a:t>K-12 burnout 'always/very often'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6648"/>
                </a:solidFill>
                <a:latin typeface="Calibri"/>
              </a:rPr>
              <a:t>Gallup 2024 — up from 44% in 2022, an 8-pt jump.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657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657600" cy="45720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1488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2C4A2E"/>
                </a:solidFill>
                <a:latin typeface="Arial Black"/>
              </a:rPr>
              <a:t>~10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C4A2E"/>
                </a:solidFill>
                <a:latin typeface="Arial Black"/>
              </a:rPr>
              <a:t>hrs / week grading per 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6648"/>
                </a:solidFill>
                <a:latin typeface="Calibri"/>
              </a:rPr>
              <a:t>Learnosity / EssayGrader 2025 — median, up from ~5.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08760"/>
            <a:ext cx="3657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08760"/>
            <a:ext cx="3657600" cy="457200"/>
          </a:xfrm>
          <a:prstGeom prst="rect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2C4A2E"/>
                </a:solidFill>
                <a:latin typeface="Arial Black"/>
              </a:rPr>
              <a:t>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2004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C4A2E"/>
                </a:solidFill>
                <a:latin typeface="Arial Black"/>
              </a:rPr>
              <a:t>hrs / week total work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11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6648"/>
                </a:solidFill>
                <a:latin typeface="Calibri"/>
              </a:rPr>
              <a:t>EdWeek State of Teaching 2024.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247120" cy="2011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4A2E"/>
                </a:solidFill>
                <a:latin typeface="Arial Black"/>
              </a:rPr>
              <a:t>1 in 4 districts ran an emergency hiring drive in 2024.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10881360" cy="12801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Teacher shortages most severe in math, special ed, and ELL — exactly Limud's beneficiary subgroups.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Grading workload is the largest single time sink — 1 hr automated saves ~$45 of teacher cost (BLS 2024 K-12 median).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Burnout correlates with attrition; attrition correlates with student outcome decline (RAND 2023).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Gallup 'K-12 Workforce' 2024 · Learnosity / EssayGrader survey 2025 · EdWeek 'State of Teaching' 2024 · BLS OEWS May 2024 (teacher hourly cost).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Solution —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556648"/>
                </a:solidFill>
                <a:latin typeface="Calibri"/>
              </a:rPr>
              <a:t>An AI-powered learning platform that adapts the lesson to the learner — not the other way 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004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Map each student's strengths,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weaknesses, and modality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preference from answer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patterns and on-task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657600" cy="54864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ADAPT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2004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Re-render the same lesson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as visual, auditory, kinesthetic,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or step-by-step — same objective,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per-student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ITERATE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560320"/>
            <a:ext cx="32004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AI-graded feedback + mistake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review close the loop every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assignment, not every</a:t>
            </a:r>
          </a:p>
          <a:p>
            <a:pPr algn="l"/>
            <a:r>
              <a:rPr sz="1300" b="0" i="0">
                <a:solidFill>
                  <a:srgbClr val="1E2A1A"/>
                </a:solidFill>
                <a:latin typeface="Calibri"/>
              </a:rPr>
              <a:t>quarter.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11247120" cy="17373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C4A2E"/>
                </a:solidFill>
                <a:latin typeface="Arial Black"/>
              </a:rPr>
              <a:t>Same lesson in. Per-student form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556648"/>
                </a:solidFill>
                <a:latin typeface="Calibri"/>
              </a:rPr>
              <a:t>Same objective. Same standards. Different rendering per learner.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Solution —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Four 2024-25 studies. Effect sizes, not anecdotes.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5321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64592" cy="233172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Stanford Tutor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2024 RCT, n=1,000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5074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3F6E9A"/>
                </a:solidFill>
                <a:latin typeface="Arial Black"/>
              </a:rPr>
              <a:t>+4 pp topic mastery overall.</a:t>
            </a:r>
          </a:p>
          <a:p>
            <a:pPr algn="l"/>
            <a:r>
              <a:rPr sz="2200" b="1" i="0">
                <a:solidFill>
                  <a:srgbClr val="3F6E9A"/>
                </a:solidFill>
                <a:latin typeface="Arial Black"/>
              </a:rPr>
              <a:t>+9 pp for novice tutors.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5074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Hybrid human-AI tutoring,</a:t>
            </a:r>
          </a:p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not autonomous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5321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164592" cy="23317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Wang et al. meta-analysis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2024, 45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5074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B8E5E"/>
                </a:solidFill>
                <a:latin typeface="Arial Black"/>
              </a:rPr>
              <a:t>g = 0.70 (medium-large)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5074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AI adaptive learning vs.</a:t>
            </a:r>
          </a:p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non-adaptive control.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55321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64592" cy="2331720"/>
          </a:xfrm>
          <a:prstGeom prst="rect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Khan Academy efficacy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2024, n=350,000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37760"/>
            <a:ext cx="5074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7A9B6E"/>
                </a:solidFill>
                <a:latin typeface="Arial Black"/>
              </a:rPr>
              <a:t>g = 0.36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5074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Students using ≥30 min/week</a:t>
            </a:r>
          </a:p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beat MAP Growth norms.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69080"/>
            <a:ext cx="55321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164592" cy="23317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RAND personalized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720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2015 + 2017, 62 schools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5074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9"/>
                </a:solidFill>
                <a:latin typeface="Arial Black"/>
              </a:rPr>
              <a:t>+3 percentile pts math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577840"/>
            <a:ext cx="5074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Conservative baseline —</a:t>
            </a:r>
          </a:p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included mid-implementation schools.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nssa.stanford.edu (Tutor CoPilot 2024) · Sage Journals 10.1177/07356331241240459 (Wang 2024) · blog.khanacademy.org (Nov 2024) · RAND RR-1365 / RR-2042. Bloom's '2-sigma' (1984) excluded — recent meta-analyses cluster closer to d=0.79.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Market (TAM)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Total Addressable Market — U.S. public grades 6–12 only. No elementary. International is upside.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4A2E"/>
                </a:solidFill>
                <a:latin typeface="Arial Black"/>
              </a:rPr>
              <a:t>TAM 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U.S. public grades 6–12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~27.1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NCES 2023-24 (Digest)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× Target $/student/year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89504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$4.00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mid-point of our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= U.S. 6–12 TAM (our slice)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493008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~$108 M/yr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27.1 M × $4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U.S. K-12 EdTech spend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96512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≈ $30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62272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EdWeek 2025 (context)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0016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Global EdTech market (2025)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700016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≈ $187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6577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Grand View Research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A1A"/>
                </a:solidFill>
                <a:latin typeface="Calibri"/>
              </a:rPr>
              <a:t>AI-in-education sub-segment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3035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C4A2E"/>
                </a:solidFill>
                <a:latin typeface="Arial Black"/>
              </a:rPr>
              <a:t>$8.3 B → $32 B by '30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8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Precedence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737360"/>
            <a:ext cx="5394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Who benefits most (grades 6–12 subgroups):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309360" y="2194560"/>
          <a:ext cx="55778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0" y="57150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NCES 2024 (IDEA) · CDC NSCH 2022 (ADHD 12-17, 14.3%) · NAEP 2024 (8th math).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03504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Calibri"/>
              </a:rPr>
              <a:t>This product helps every one of these students — not a niche.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Current Workflow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How a single lesson moves through a middle or high school classroom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Teacher plans ONE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One worksheet, one pace,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one modality — usually text.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68396" y="3291840"/>
            <a:ext cx="201168" cy="457200"/>
          </a:xfrm>
          <a:prstGeom prst="rightArrow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Every student gets the same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30 kids, 30 learning styles,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identical material.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03036" y="3291840"/>
            <a:ext cx="201168" cy="457200"/>
          </a:xfrm>
          <a:prstGeom prst="rightArrow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Teacher grades by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~10 hrs/week median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(Learnosity 2025).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37676" y="3291840"/>
            <a:ext cx="201168" cy="457200"/>
          </a:xfrm>
          <a:prstGeom prst="rightArrow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0" y="2103120"/>
            <a:ext cx="640080" cy="640080"/>
          </a:xfrm>
          <a:prstGeom prst="ellipse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Parent sees a letter 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End of quarter. No context.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No action items.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40680"/>
            <a:ext cx="11247120" cy="10515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3212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Net effect: uniform instruction for non-uniform minds.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Teachers average 53 hrs/week total · 52% report burnout always/very often.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09360"/>
            <a:ext cx="10881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EdWeek 'State of Teaching' 2024 · Gallup K-12 Workforce 2024 · Learnosity 2025.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Workflow With Limud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Same lesson in. Personalized learning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Teacher uploads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One lesson plan in.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AI handles the rest.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8396" y="3291840"/>
            <a:ext cx="201168" cy="457200"/>
          </a:xfrm>
          <a:prstGeom prst="rightArrow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AI adapts per 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Visual, auditory, kinesthetic,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or step-by-step — each kid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gets the version that clicks.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03036" y="3291840"/>
            <a:ext cx="201168" cy="457200"/>
          </a:xfrm>
          <a:prstGeom prst="rightArrow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Auto-grade +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Submissions graded in minutes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with per-student structured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feedback.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7676" y="3291840"/>
            <a:ext cx="201168" cy="457200"/>
          </a:xfrm>
          <a:prstGeom prst="rightArrow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1828800"/>
            <a:ext cx="26060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2103120"/>
            <a:ext cx="640080" cy="6400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92608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Parent sees real-time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749040"/>
            <a:ext cx="2148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Weekly AI digest,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grade-posted notifications,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goals the kid actually sees.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40680"/>
            <a:ext cx="11247120" cy="10515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4A2E"/>
                </a:solidFill>
                <a:latin typeface="Arial Black"/>
              </a:rPr>
              <a:t>Same inputs. Same curriculum. Four roles newly connected — in one product.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Where the teacher's 10 hrs/week of grading and 2+ hrs of planning go back to the classroom.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One concrete user. What we change for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749039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3080" y="1737360"/>
            <a:ext cx="1280160" cy="1280160"/>
          </a:xfrm>
          <a:prstGeom prst="ellipse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C4A2E"/>
                </a:solidFill>
                <a:latin typeface="Arial Black"/>
              </a:rPr>
              <a:t>John,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56648"/>
                </a:solidFill>
                <a:latin typeface="Calibri"/>
              </a:rPr>
              <a:t>8th grade · Diagnosed ADHD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3383280" cy="2286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E2A1A"/>
                </a:solidFill>
                <a:latin typeface="Calibri"/>
              </a:rPr>
              <a:t>•  Reads slowly; loses focus on dense worksheets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E2A1A"/>
                </a:solidFill>
                <a:latin typeface="Calibri"/>
              </a:rPr>
              <a:t>•  Strong when shown diagrams + worked examples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E2A1A"/>
                </a:solidFill>
                <a:latin typeface="Calibri"/>
              </a:rPr>
              <a:t>•  Falls behind when the class moves at fixed pace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E2A1A"/>
                </a:solidFill>
                <a:latin typeface="Calibri"/>
              </a:rPr>
              <a:t>•  Parents can't afford $50-100/hr tutoring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08760"/>
            <a:ext cx="3657600" cy="484632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508760"/>
            <a:ext cx="3657600" cy="50292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94560"/>
            <a:ext cx="3383280" cy="4023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One text worksheet for all 30 kids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Graded 1–2 weeks later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Teacher finds out he's behind at conferences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Parent sees a C+ on report card, no 'why'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John gets labeled 'not trying', disengages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08760"/>
            <a:ext cx="3657600" cy="484632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08760"/>
            <a:ext cx="3657600" cy="5029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WITH LIMUD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383280" cy="4023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Same lesson, re-rendered visually + step-by-step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Focus Mode hides distractions; AI tutor walks him through it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Graded same day, worked example for what he missed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Parent sees weekly digest, talks to teacher before grade hits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At-risk alert fires week 1 of a drop, not month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Persona represents the 11.4% of U.S. children ages 3-17 with ADHD (CDC NSCH 2022 — 14.3% for ages 12-17). The 'with Limud' column describes product behavior, not measured outcomes.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Pricing 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Three tiers. Below every adaptive competitor on a per-student basis.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3611880" cy="64008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3611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Basic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611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 i="0">
                <a:solidFill>
                  <a:srgbClr val="2C4A2E"/>
                </a:solidFill>
                <a:latin typeface="Arial Black"/>
              </a:rPr>
              <a:t>$3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611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6648"/>
                </a:solidFill>
                <a:latin typeface="Calibri"/>
              </a:rPr>
              <a:t>/ student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8999"/>
            <a:ext cx="3154680" cy="1188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Student + Teacher portals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Adaptive assignments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Auto-grading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611880" cy="64008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54480"/>
            <a:ext cx="3611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611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 i="0">
                <a:solidFill>
                  <a:srgbClr val="2C4A2E"/>
                </a:solidFill>
                <a:latin typeface="Arial Black"/>
              </a:rPr>
              <a:t>$5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3611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6648"/>
                </a:solidFill>
                <a:latin typeface="Calibri"/>
              </a:rPr>
              <a:t>/ student /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28999"/>
            <a:ext cx="3154680" cy="1188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Parent portal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Socratic AI tutor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Mistake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55448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554480"/>
            <a:ext cx="3611880" cy="640080"/>
          </a:xfrm>
          <a:prstGeom prst="rect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554480"/>
            <a:ext cx="3611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31720"/>
            <a:ext cx="3611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 i="0">
                <a:solidFill>
                  <a:srgbClr val="2C4A2E"/>
                </a:solidFill>
                <a:latin typeface="Arial Black"/>
              </a:rPr>
              <a:t>$8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108960"/>
            <a:ext cx="3611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6648"/>
                </a:solidFill>
                <a:latin typeface="Calibri"/>
              </a:rPr>
              <a:t>/ student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28999"/>
            <a:ext cx="3154680" cy="1188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Admin console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SSO + FERPA audit pack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+ Dedicated CSM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247120" cy="169164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920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Per-student/year benchmark vs. competitors: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440680"/>
            <a:ext cx="2139696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440680"/>
            <a:ext cx="137160" cy="96012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32120"/>
            <a:ext cx="17739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C4A2E"/>
                </a:solidFill>
                <a:latin typeface="Arial Black"/>
              </a:rPr>
              <a:t>IXL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52160"/>
            <a:ext cx="177393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D94F4F"/>
                </a:solidFill>
                <a:latin typeface="Arial Black"/>
              </a:rPr>
              <a:t>$5–10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80944" y="5440680"/>
            <a:ext cx="2139696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80944" y="5440680"/>
            <a:ext cx="137160" cy="960120"/>
          </a:xfrm>
          <a:prstGeom prst="rect">
            <a:avLst/>
          </a:prstGeom>
          <a:solidFill>
            <a:srgbClr val="4B9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55264" y="5532120"/>
            <a:ext cx="17739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C4A2E"/>
                </a:solidFill>
                <a:latin typeface="Arial Black"/>
              </a:rPr>
              <a:t>DreamBox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5264" y="5852160"/>
            <a:ext cx="177393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4B9AAC"/>
                </a:solidFill>
                <a:latin typeface="Arial Black"/>
              </a:rPr>
              <a:t>$20–25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84648" y="5440680"/>
            <a:ext cx="2139696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84648" y="5440680"/>
            <a:ext cx="137160" cy="960120"/>
          </a:xfrm>
          <a:prstGeom prst="rect">
            <a:avLst/>
          </a:prstGeom>
          <a:solidFill>
            <a:srgbClr val="14B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58968" y="5532120"/>
            <a:ext cx="17739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C4A2E"/>
                </a:solidFill>
                <a:latin typeface="Arial Black"/>
              </a:rPr>
              <a:t>Khanmigo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8968" y="5852160"/>
            <a:ext cx="177393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4BF96"/>
                </a:solidFill>
                <a:latin typeface="Arial Black"/>
              </a:rPr>
              <a:t>$35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88352" y="5440680"/>
            <a:ext cx="2139696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8352" y="5440680"/>
            <a:ext cx="137160" cy="960120"/>
          </a:xfrm>
          <a:prstGeom prst="rect">
            <a:avLst/>
          </a:prstGeom>
          <a:solidFill>
            <a:srgbClr val="6E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5532120"/>
            <a:ext cx="17739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C4A2E"/>
                </a:solidFill>
                <a:latin typeface="Arial Black"/>
              </a:rPr>
              <a:t>ALEKS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2" y="5852160"/>
            <a:ext cx="177393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E7E8C"/>
                </a:solidFill>
                <a:latin typeface="Arial Black"/>
              </a:rPr>
              <a:t>Quote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92056" y="5440680"/>
            <a:ext cx="2139696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92056" y="5440680"/>
            <a:ext cx="137160" cy="9601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66376" y="5532120"/>
            <a:ext cx="17739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C4A2E"/>
                </a:solidFill>
                <a:latin typeface="Arial Black"/>
              </a:rPr>
              <a:t>Limud (blended)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6376" y="5852160"/>
            <a:ext cx="177393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B8E5E"/>
                </a:solidFill>
                <a:latin typeface="Arial Black"/>
              </a:rPr>
              <a:t>$4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379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ixl.com/membership/school · dreambox.com/educators · khanacademy.org/schools/pricing · aleks.com (quote-based). All accessed 2026-04-25.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C4A2E"/>
                </a:solidFill>
                <a:latin typeface="Arial Black"/>
              </a:rPr>
              <a:t>Unit Economics +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Per-district math, projected. 0 paid districts today — these are model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UNIT ECONOMICS (Projected)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Avg. district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1,000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Blended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≈ $4 / student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Rev. per district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$4,000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Gross margin (target)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703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≈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CAC (assumed)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60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$800 / district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5-yr LTV (assumed)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17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$18,400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2A1A"/>
                </a:solidFill>
                <a:latin typeface="Calibri"/>
              </a:rPr>
              <a:t>LTV : CAC (model)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74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2C4A2E"/>
                </a:solidFill>
                <a:latin typeface="Arial Black"/>
              </a:rPr>
              <a:t>23 :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554480"/>
            <a:ext cx="5577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645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3-year district growth (projection)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446520" y="2057400"/>
          <a:ext cx="521208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263640" y="4160520"/>
            <a:ext cx="5577840" cy="160020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519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Business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5212080" cy="1051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Annual district contracts · Recurring ARR — not ads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Land-and-expand by tier · No data sale, no resale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LTV/CAC is a model output with stated assumptions, not reported results. Pricing benchmark on prior slide. 0 paid districts today.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Demand Generation &amp; 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Three parallel channels. One decision-maker: the district administrator.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576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657600" cy="54864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Design-partner pilots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3108960" cy="26060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Free 6-month pilot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3 design-partner districts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Measured vs. matched control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Case studies → Year 2 collateral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576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54864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Conferences + RFPs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3108960" cy="26060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ASU+GSV (Apr · San Diego)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ISTE (Jun · Orlando)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FETC + TCEA (Jan-Feb)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State RFPs: CA + TX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6576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Teacher-led pull (PLG)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108960" cy="26060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Free teacher-tier signup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85% of principals trust teachers (Transcend '24)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MagicSchool reached 6 M teachers this way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→ bottom-up to district 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80"/>
            <a:ext cx="1124712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K-12 sales reality — EdWeek Market Brief 2025: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50992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37% of districts close in 6–11 months · Pilot adds ~12 mo · Title I FY26 $18.5 B + IDEA Part B $15.2 B (post-ESSER, NAESP 2026)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172200"/>
            <a:ext cx="11247120" cy="5943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26364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1">
                <a:solidFill>
                  <a:srgbClr val="2C4A2E"/>
                </a:solidFill>
                <a:latin typeface="Calibri"/>
              </a:rPr>
              <a:t>Super: 'Pilot free 6 mo.' · Teacher: 'Grade in mins.' · Parent: 'Weekly digest, plain English.'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Product Validation /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Pre-launch. 0 paid users. This slide says exactly how we'll know if it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949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PILOT DESIGN (FALL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4023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Target: 3 design-partner districts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Duration: 6 months, free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Controls: matched non-pilot cohort (same district, different grade/section)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Consent: opt-in per-parent, FERPA-aligned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Funding: covered by founding team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Deliverable to partners: per-student progress report + teacher time-use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669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5669280" cy="5029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00200"/>
            <a:ext cx="5669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WHAT WE'LL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5212080" cy="4023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PRIMARY: NAEP-aligned pre/post assessment delta vs. control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SECONDARY: teacher hrs/week on grading (self-reported log)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SECONDARY: parent weekly-active rate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SECONDARY: student streak days / assignment completion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GATE for Year 2 pricing: positive delta on ≥2 of 3 secondary metrics, ≥2 of 3 districts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Null-result policy: publish negative findings,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No user-facing outcomes claimed elsewhere in this deck. ESSER expired Sept 2024 — pilot funded by founding team, not federal recovery dollars. Null-result publication is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Competition —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Nine real products. Vendor pricing pages 2026-04-25.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01168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417320"/>
            <a:ext cx="237744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417320"/>
            <a:ext cx="310896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41732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417320"/>
            <a:ext cx="228600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$ / student / 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417320"/>
            <a:ext cx="155448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41732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Parent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76688" y="1417320"/>
            <a:ext cx="173736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688" y="1417320"/>
            <a:ext cx="1737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Modality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28800"/>
            <a:ext cx="201168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1828800"/>
            <a:ext cx="2377440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182880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Limud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27248" y="1828800"/>
            <a:ext cx="3108960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7248" y="1828800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Adaptive + 4 roles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1828800"/>
            <a:ext cx="2286000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828800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$4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2208" y="1828800"/>
            <a:ext cx="1554480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1828800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6688" y="1828800"/>
            <a:ext cx="1737360" cy="384048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828800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212848"/>
            <a:ext cx="201168" cy="384048"/>
          </a:xfrm>
          <a:prstGeom prst="rect">
            <a:avLst/>
          </a:prstGeom>
          <a:solidFill>
            <a:srgbClr val="14B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2212848"/>
            <a:ext cx="237744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21284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Khan / Khanmigo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2212848"/>
            <a:ext cx="31089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27248" y="2212848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Tutor + 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2212848"/>
            <a:ext cx="228600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2212848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$35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22208" y="2212848"/>
            <a:ext cx="155448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2208" y="2212848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Limited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76688" y="2212848"/>
            <a:ext cx="17373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76688" y="2212848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596896"/>
            <a:ext cx="201168" cy="384048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2596896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2596896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IXL Learning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2596896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8" y="2596896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Practice + analytics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2596896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2596896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$5–10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22208" y="2596896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22208" y="2596896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76688" y="259689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2596896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2980944"/>
            <a:ext cx="201168" cy="384048"/>
          </a:xfrm>
          <a:prstGeom prst="rect">
            <a:avLst/>
          </a:prstGeom>
          <a:solidFill>
            <a:srgbClr val="4B9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808" y="2980944"/>
            <a:ext cx="237744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2980944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DreamBox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27248" y="2980944"/>
            <a:ext cx="31089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27248" y="2980944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Adaptive math + reading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36208" y="2980944"/>
            <a:ext cx="228600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2980944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$20–25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22208" y="2980944"/>
            <a:ext cx="155448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2208" y="2980944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Limited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76688" y="2980944"/>
            <a:ext cx="17373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76688" y="2980944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Limited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3364992"/>
            <a:ext cx="201168" cy="384048"/>
          </a:xfrm>
          <a:prstGeom prst="rect">
            <a:avLst/>
          </a:prstGeom>
          <a:solidFill>
            <a:srgbClr val="6E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9808" y="3364992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3364992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ALEKS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27248" y="3364992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27248" y="3364992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Adaptive math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3364992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208" y="3364992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Quote only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22208" y="3364992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22208" y="3364992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76688" y="336499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76688" y="3364992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Limited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3749040"/>
            <a:ext cx="201168" cy="384048"/>
          </a:xfrm>
          <a:prstGeom prst="rect">
            <a:avLst/>
          </a:prstGeom>
          <a:solidFill>
            <a:srgbClr val="8B5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9808" y="3749040"/>
            <a:ext cx="237744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" y="374904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MagicSchool AI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27248" y="3749040"/>
            <a:ext cx="31089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27248" y="3749040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Teacher AI assistant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749040"/>
            <a:ext cx="228600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36208" y="3749040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~$100 / tch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22208" y="3749040"/>
            <a:ext cx="155448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22208" y="3749040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76688" y="3749040"/>
            <a:ext cx="17373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76688" y="3749040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4133088"/>
            <a:ext cx="201168" cy="384048"/>
          </a:xfrm>
          <a:prstGeom prst="rect">
            <a:avLst/>
          </a:prstGeom>
          <a:solidFill>
            <a:srgbClr val="E0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9808" y="4133088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413308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Brisk Teaching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27248" y="4133088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27248" y="4133088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Teacher AI assistant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36208" y="413308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36208" y="4133088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~$100 / tch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22208" y="413308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22208" y="4133088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76688" y="41330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76688" y="4133088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4517136"/>
            <a:ext cx="201168" cy="384048"/>
          </a:xfrm>
          <a:prstGeom prst="rect">
            <a:avLst/>
          </a:prstGeom>
          <a:solidFill>
            <a:srgbClr val="EB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49808" y="4517136"/>
            <a:ext cx="237744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9808" y="4517136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Curipod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27248" y="4517136"/>
            <a:ext cx="31089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27248" y="4517136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AI lesson engagement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36208" y="4517136"/>
            <a:ext cx="228600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36208" y="4517136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~$90 / tch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22208" y="4517136"/>
            <a:ext cx="155448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22208" y="4517136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Polls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76688" y="4517136"/>
            <a:ext cx="1737360" cy="384048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76688" y="4517136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4901184"/>
            <a:ext cx="201168" cy="384048"/>
          </a:xfrm>
          <a:prstGeom prst="rect">
            <a:avLst/>
          </a:prstGeom>
          <a:solidFill>
            <a:srgbClr val="B8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49808" y="4901184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808" y="4901184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E2A1A"/>
                </a:solidFill>
                <a:latin typeface="Calibri"/>
              </a:rPr>
              <a:t>Eduaide.AI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27248" y="4901184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27248" y="4901184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Teacher AI quizzes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36208" y="490118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36208" y="4901184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~$72 / tch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22208" y="490118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22208" y="4901184"/>
            <a:ext cx="1554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076688" y="49011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076688" y="4901184"/>
            <a:ext cx="1737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E2A1A"/>
                </a:solidFill>
                <a:latin typeface="Calibri"/>
              </a:rPr>
              <a:t>No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5349240"/>
            <a:ext cx="5532120" cy="96012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40" y="54406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6E9A"/>
                </a:solidFill>
                <a:latin typeface="Arial Black"/>
              </a:rPr>
              <a:t>Adaptive student platforms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0644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Khan · IXL · DreamBox · ALEKS — student-facing, district pricing.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263640" y="5349240"/>
            <a:ext cx="5532120" cy="96012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92240" y="54406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8B5ACF"/>
                </a:solidFill>
                <a:latin typeface="Arial Black"/>
              </a:rPr>
              <a:t>Teacher AI assistants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92240" y="580644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MagicSchool · Brisk · Curipod · Eduaide — teacher-only, freemium.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ixl.com · khanacademy.org · dreambox.com · aleks.com · magicschool.ai · briskteaching.com · curipod.com · eduaide.ai. Accessed 2026-04-25.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Competition — Funding Heat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AI-tutoring VC drew ≈$1.4 B in 2024–25. Recent K-12 / EdTech AI rounds: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46304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58200" y="1463040"/>
            <a:ext cx="3383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1463040"/>
            <a:ext cx="164592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55448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Arial Black"/>
              </a:rPr>
              <a:t>$1.4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4884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AI tutoring VC, 2024–25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newmarketpitch sector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017520"/>
            <a:ext cx="3383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3017520"/>
            <a:ext cx="164592" cy="1417320"/>
          </a:xfrm>
          <a:prstGeom prst="rect">
            <a:avLst/>
          </a:prstGeom>
          <a:solidFill>
            <a:srgbClr val="8B5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10896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8B5ACF"/>
                </a:solidFill>
                <a:latin typeface="Arial Black"/>
              </a:rPr>
              <a:t>$45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70332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MagicSchool Series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0233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Bain Capital · Jan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572000"/>
            <a:ext cx="3383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4572000"/>
            <a:ext cx="164592" cy="1417320"/>
          </a:xfrm>
          <a:prstGeom prst="rect">
            <a:avLst/>
          </a:prstGeom>
          <a:solidFill>
            <a:srgbClr val="E0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466344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E07B3F"/>
                </a:solidFill>
                <a:latin typeface="Arial Black"/>
              </a:rPr>
              <a:t>$15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25780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Brisk Teaching Series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5778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Bessemer · Mar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magicschool.ai blog · finsmes.com (Brisk) · techcrunch.com (Gizmo) · newmarketpitch.com (sector aggregate). Bars are $ M raised in disclosed rounds.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Competition — Where Limud 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Three things no other K-12 product does at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7033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3703320" cy="96012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FOUR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Student · Teacher · Parent ·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31546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Khan / IXL / DreamBox / ALEKS = student-only.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MagicSchool / Brisk / Curipod / Eduaide = teacher-only.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Limud is the only one serving all four in one product.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7033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08760"/>
            <a:ext cx="3703320" cy="9601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MODALITY ADAPTS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Visual · Auditory · Kinesthetic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31546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Adaptive comps adjust difficulty + pacing only.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Limud re-renders the same lesson per modality —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no other K-12 platform claims this in product copy.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08760"/>
            <a:ext cx="37033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08760"/>
            <a:ext cx="37033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TRANSPARENT 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$4 / student blended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97480"/>
            <a:ext cx="31546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MagicSchool / Brisk / ALEKS / DreamBox hide district price.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Limud publishes Basic $3 · Pro $5 · Enterprise $8.</a:t>
            </a:r>
          </a:p>
          <a:p>
            <a:pPr algn="l"/>
            <a:r>
              <a:rPr sz="1200" b="0" i="0">
                <a:solidFill>
                  <a:srgbClr val="1E2A1A"/>
                </a:solidFill>
                <a:latin typeface="Calibri"/>
              </a:rPr>
              <a:t>Budget tier vs. $5–35 adaptive comps.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247120" cy="77724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C4A2E"/>
                </a:solidFill>
                <a:latin typeface="Arial Black"/>
              </a:rPr>
              <a:t>Net: only Limud lets a teacher upload once and a parent get a weekly digest at $4 / student.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83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Differentiators verified against vendor pricing/feature pages 2026-04-25 (full sources slide 15).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2926080" cy="274320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548640"/>
            <a:ext cx="1645920" cy="146304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6035040"/>
            <a:ext cx="1463040" cy="128016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Competitor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What teachers and parents actually say. Not marketing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703320" cy="640080"/>
          </a:xfrm>
          <a:prstGeom prst="rect">
            <a:avLst/>
          </a:prstGeom>
          <a:solidFill>
            <a:srgbClr val="14B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KHANMIGO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46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E2A1A"/>
                </a:solidFill>
                <a:latin typeface="Calibri"/>
              </a:rPr>
              <a:t>"Strong scaffolding for math, but humanities still feels like reading from a textbook."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— Common Sense Education teacher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3337560" cy="8229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3063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Strength: Socratic method.</a:t>
            </a:r>
          </a:p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Gap: Subject coverage uneven.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0876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508760"/>
            <a:ext cx="3703320" cy="64008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5087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IXL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77440"/>
            <a:ext cx="3246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E2A1A"/>
                </a:solidFill>
                <a:latin typeface="Calibri"/>
              </a:rPr>
              <a:t>"More a source of stress than education — students sent to guidance counseling over SmartScore."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06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— Trustpilot parent ·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617720"/>
            <a:ext cx="3337560" cy="8229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709160"/>
            <a:ext cx="3063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Strength: K-12 skill coverage.</a:t>
            </a:r>
          </a:p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Gap: Punitive scoring demotivates.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50876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508760"/>
            <a:ext cx="3703320" cy="640080"/>
          </a:xfrm>
          <a:prstGeom prst="rect">
            <a:avLst/>
          </a:prstGeom>
          <a:solidFill>
            <a:srgbClr val="8B5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087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MAGICSCHOOL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77440"/>
            <a:ext cx="3246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E2A1A"/>
                </a:solidFill>
                <a:latin typeface="Calibri"/>
              </a:rPr>
              <a:t>"Saves me 7-10 hrs/week, but I have to fact-check every output — especially math."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06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648"/>
                </a:solidFill>
                <a:latin typeface="Calibri"/>
              </a:rPr>
              <a:t>— G2 / Common Sense teacher · 2024-25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4617720"/>
            <a:ext cx="3337560" cy="82296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709160"/>
            <a:ext cx="3063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Strength: Time savings.</a:t>
            </a:r>
          </a:p>
          <a:p>
            <a:pPr algn="l"/>
            <a:r>
              <a:rPr sz="1100" b="0" i="0">
                <a:solidFill>
                  <a:srgbClr val="2C4A2E"/>
                </a:solidFill>
                <a:latin typeface="Calibri"/>
              </a:rPr>
              <a:t>Gap: Hallucinations · manual QA tax.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9280"/>
            <a:ext cx="11247120" cy="8686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6072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C4A2E"/>
                </a:solidFill>
                <a:latin typeface="Arial Black"/>
              </a:rPr>
              <a:t>Pattern: nobody has trustworthy AI content AND non-punitive engagement.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12648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6648"/>
                </a:solidFill>
                <a:latin typeface="Calibri"/>
              </a:rPr>
              <a:t>Limud's product hypothesis: confidence-scored AI + intrinsic motivation, designed for grades 6-12.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commonsense.org/education · trustpilot.com/review/ixl.com · g2.com · educationnext.org. All accessed 2026-04-27.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Adjacent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Free-tier squeeze: Big Tech + incumbent LMS bundling AI for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7724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77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463040"/>
            <a:ext cx="420624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6304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Threat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463040"/>
            <a:ext cx="6263640" cy="411480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463040"/>
            <a:ext cx="6263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74520"/>
            <a:ext cx="777240" cy="457200"/>
          </a:xfrm>
          <a:prstGeom prst="rect">
            <a:avLst/>
          </a:prstGeom>
          <a:solidFill>
            <a:srgbClr val="C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187452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18745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Google Classroom + Gemini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1874520"/>
            <a:ext cx="6263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8745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Free for educators · 6M trained · Miami-Dade adopting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31720"/>
            <a:ext cx="777240" cy="457200"/>
          </a:xfrm>
          <a:prstGeom prst="rect">
            <a:avLst/>
          </a:prstGeom>
          <a:solidFill>
            <a:srgbClr val="C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317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2331720"/>
            <a:ext cx="42062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23317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Microsoft Copilot Education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2331720"/>
            <a:ext cx="62636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3317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Bundled M365 · Teams in ~70% of U.S. schools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88920"/>
            <a:ext cx="777240" cy="457200"/>
          </a:xfrm>
          <a:prstGeom prst="rect">
            <a:avLst/>
          </a:prstGeom>
          <a:solidFill>
            <a:srgbClr val="C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889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78892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27889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PowerSchool PowerBuddy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2788920"/>
            <a:ext cx="6263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27889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50M students · zero-friction in Schoology LMS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46120"/>
            <a:ext cx="777240" cy="457200"/>
          </a:xfrm>
          <a:prstGeom prst="rect">
            <a:avLst/>
          </a:prstGeom>
          <a:solidFill>
            <a:srgbClr val="E09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461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3246120"/>
            <a:ext cx="42062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32461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OpenAI ChatGPT for Teachers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246120"/>
            <a:ext cx="62636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32461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Free for verified U.S. K-12 teachers thru Jun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03320"/>
            <a:ext cx="777240" cy="457200"/>
          </a:xfrm>
          <a:prstGeom prst="rect">
            <a:avLst/>
          </a:prstGeom>
          <a:solidFill>
            <a:srgbClr val="E09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MED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" y="370332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7033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Anthropic Claude for Education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3703320"/>
            <a:ext cx="6263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7033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K-12 via partners (MagicSchool); no standalone yet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160520"/>
            <a:ext cx="777240" cy="457200"/>
          </a:xfrm>
          <a:prstGeom prst="rect">
            <a:avLst/>
          </a:prstGeom>
          <a:solidFill>
            <a:srgbClr val="E09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1605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25880" y="4160520"/>
            <a:ext cx="42062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41605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Canvas IgniteAI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32120" y="4160520"/>
            <a:ext cx="62636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41605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Free advanced AI thru Jun 2026 (US)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617720"/>
            <a:ext cx="777240" cy="45720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6177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" y="461772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46177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Quizlet Q-Chat / Magic Notes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4617720"/>
            <a:ext cx="6263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5000" y="46177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Flashcards + tutor · narrow use case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074920"/>
            <a:ext cx="777240" cy="45720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0749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25880" y="5074920"/>
            <a:ext cx="42062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0749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4A2E"/>
                </a:solidFill>
                <a:latin typeface="Arial Black"/>
              </a:rPr>
              <a:t>Duolingo Math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5074920"/>
            <a:ext cx="6263640" cy="457200"/>
          </a:xfrm>
          <a:prstGeom prst="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5000" y="5074920"/>
            <a:ext cx="6080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E2A1A"/>
                </a:solidFill>
                <a:latin typeface="Calibri"/>
              </a:rPr>
              <a:t>Math-only · K-12 not core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532120"/>
            <a:ext cx="11247120" cy="100584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62356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84242"/>
                </a:solidFill>
                <a:latin typeface="Arial Black"/>
              </a:rPr>
              <a:t>Nightmare scenario — the free-tier squeeze: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989320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Google + MS + PowerSchool saturate 'good enough' AI by 2027. Limud's window narrows if positioning stays generic. Specialize: grades 6-12 modality + parent loop.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583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08060"/>
                </a:solidFill>
                <a:latin typeface="Calibri"/>
              </a:rPr>
              <a:t>Sources: blog.google/products-and-platforms/products/education · educatorstechnology.com · powerschool.com · openai.com/teachers · claude.com/solutions/education. Accessed 2026-04-27.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Strategic Plays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Where to differentiate. Where to match. Where to skip.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532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532120" cy="59436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DIFFERENTIATE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554480"/>
            <a:ext cx="2148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</a:rPr>
              <a:t>Where we 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074920" cy="1417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4 roles (no comp does this)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Modality adaptation V/A/K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Confidence-scored AI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Transparent $4 / student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532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532120" cy="594360"/>
          </a:xfrm>
          <a:prstGeom prst="rect">
            <a:avLst/>
          </a:prstGeom>
          <a:solidFill>
            <a:srgbClr val="3F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ACHIEVE PARITY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554480"/>
            <a:ext cx="2148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</a:rPr>
              <a:t>What we must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74920" cy="1417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Lesson-plan quality vs MagicSchool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Auto-grading speed vs Brisk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Free teacher tier (PLG)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LMS integration: Canvas + Schoology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532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59352"/>
            <a:ext cx="5532120" cy="594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005072"/>
            <a:ext cx="2148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</a:rPr>
              <a:t>Watch quarterly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90872"/>
            <a:ext cx="5074920" cy="1417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PowerBuddy roadmap (HIGH risk)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Gemini for Education K-12 ships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Copilot Teach pricing post-Dec '25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Anthropic K-12 standalone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59352"/>
            <a:ext cx="5532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59352"/>
            <a:ext cx="5532120" cy="594360"/>
          </a:xfrm>
          <a:prstGeom prst="rect">
            <a:avLst/>
          </a:prstGeom>
          <a:solidFill>
            <a:srgbClr val="6E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05072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DON'T COMPETE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005072"/>
            <a:ext cx="2148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</a:rPr>
              <a:t>Skip these lanes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90872"/>
            <a:ext cx="5074920" cy="1417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K-5 elementary (DreamBox)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Math-only practice (ALEKS)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Pure flashcards (Quizlet)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1E2A1A"/>
                </a:solidFill>
                <a:latin typeface="Calibri"/>
              </a:rPr>
              <a:t>•  Higher ed (Canvas / OpenAI)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247120" cy="41148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327648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6648"/>
                </a:solidFill>
                <a:latin typeface="Calibri"/>
              </a:rPr>
              <a:t>Lanes derived from competitor matrix (slide 15) + customer voice (slide 18) + threat map (slide 19).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743200" cy="237744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914400"/>
            <a:ext cx="2743200" cy="237744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457200"/>
            <a:ext cx="1463040" cy="12801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C4A2E"/>
                </a:solidFill>
                <a:latin typeface="Arial Black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6648"/>
                </a:solidFill>
                <a:latin typeface="Calibri"/>
              </a:rPr>
              <a:t>Six builders. Full-stack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7452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92024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Tamar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33172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65176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Vision, partnerships, district outreach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399" y="160020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1999" y="187452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8745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19" y="192024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Noam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19" y="233172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265176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Architecture, AI pipeline, data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160020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198" y="187452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8" y="18745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8" y="192024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Lior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8" y="233172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Design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8" y="265176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Product design, brand, UX across all four portals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4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02336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406908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Erez 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48056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480060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Student + Parent experiences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399" y="374904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1999" y="402336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999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19" y="406908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Eytan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19" y="448056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Engineering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19" y="480060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Teacher tools + AI grading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8" y="3749040"/>
            <a:ext cx="37490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58198" y="4023360"/>
            <a:ext cx="1097280" cy="1097280"/>
          </a:xfrm>
          <a:prstGeom prst="ellipse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8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18" y="4069080"/>
            <a:ext cx="219455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4A2E"/>
                </a:solidFill>
                <a:latin typeface="Arial Black"/>
              </a:rPr>
              <a:t>Noam 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8" y="4480560"/>
            <a:ext cx="219455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3F6E9A"/>
                </a:solidFill>
                <a:latin typeface="Calibri"/>
              </a:rPr>
              <a:t>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18" y="4800600"/>
            <a:ext cx="2194559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A1A"/>
                </a:solidFill>
                <a:latin typeface="Calibri"/>
              </a:rPr>
              <a:t>Admin + district console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11247120" cy="685800"/>
          </a:xfrm>
          <a:prstGeom prst="roundRect">
            <a:avLst/>
          </a:prstGeom>
          <a:solidFill>
            <a:srgbClr val="EE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98932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C4A2E"/>
                </a:solidFill>
                <a:latin typeface="Calibri"/>
              </a:rPr>
              <a:t>We ship in two-week cycles. The rest of this story is ahead of 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2377440" cy="2194560"/>
          </a:xfrm>
          <a:prstGeom prst="ellipse">
            <a:avLst/>
          </a:prstGeom>
          <a:solidFill>
            <a:srgbClr val="BD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577840"/>
            <a:ext cx="2194560" cy="2011680"/>
          </a:xfrm>
          <a:prstGeom prst="ellipse">
            <a:avLst/>
          </a:prstGeom>
          <a:solidFill>
            <a:srgbClr val="9A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486400"/>
            <a:ext cx="2377440" cy="2194560"/>
          </a:xfrm>
          <a:prstGeom prst="ellipse">
            <a:avLst/>
          </a:prstGeom>
          <a:solidFill>
            <a:srgbClr val="7A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550408" y="914400"/>
            <a:ext cx="1005840" cy="1005840"/>
          </a:xfrm>
          <a:prstGeom prst="homePlate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76722" y="1316736"/>
            <a:ext cx="553212" cy="2514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600" b="1" i="0">
                <a:solidFill>
                  <a:srgbClr val="2C4A2E"/>
                </a:solidFill>
                <a:latin typeface="Arial Black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1">
                <a:solidFill>
                  <a:srgbClr val="556648"/>
                </a:solidFill>
                <a:latin typeface="Calibri"/>
              </a:rPr>
              <a:t>Questions welcome. Skepticism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5504" y="3566160"/>
            <a:ext cx="1828800" cy="36576"/>
          </a:xfrm>
          <a:prstGeom prst="rect">
            <a:avLst/>
          </a:prstGeom>
          <a:solidFill>
            <a:srgbClr val="2C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931920"/>
            <a:ext cx="9418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931920"/>
            <a:ext cx="9418320" cy="502920"/>
          </a:xfrm>
          <a:prstGeom prst="rect">
            <a:avLst/>
          </a:prstGeom>
          <a:solidFill>
            <a:srgbClr val="6B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9418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Black"/>
              </a:rPr>
              <a:t>WHAT WE'RE ASKING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17720"/>
            <a:ext cx="8503920" cy="13716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Three design-partner districts for a free 6-month Fall 2026 pilot (grades 6–12 only).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Introductions to middle/high school district superintendents in CA or TX.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E2A1A"/>
                </a:solidFill>
                <a:latin typeface="Calibri"/>
              </a:rPr>
              <a:t>•  Your honest critique of this plan — especially the parts we have wrong.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556648"/>
                </a:solidFill>
                <a:latin typeface="Calibri"/>
              </a:rPr>
              <a:t>Every mind learns differently.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